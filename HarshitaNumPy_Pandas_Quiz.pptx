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164591" y="-1"/>
            <a:ext cx="8979410" cy="1280162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Text 2"/>
          <p:cNvSpPr txBox="1"/>
          <p:nvPr/>
        </p:nvSpPr>
        <p:spPr>
          <a:xfrm>
            <a:off x="365760" y="145219"/>
            <a:ext cx="2651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 spc="600">
                <a:solidFill>
                  <a:srgbClr val="E94560"/>
                </a:solidFill>
              </a:defRPr>
            </a:lvl1pPr>
          </a:lstStyle>
          <a:p>
            <a:r>
              <a:t>QUIZ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65760" y="460136"/>
            <a:ext cx="813816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NumPy &amp; Pandas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365760" y="991039"/>
            <a:ext cx="81381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i="1">
                <a:solidFill>
                  <a:srgbClr val="A0AEC0"/>
                </a:solidFill>
              </a:defRPr>
            </a:lvl1pPr>
          </a:lstStyle>
          <a:p>
            <a:r>
              <a:t>Python Data Science Series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02919" y="1555926"/>
            <a:ext cx="8138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400">
                <a:solidFill>
                  <a:srgbClr val="E94560"/>
                </a:solidFill>
              </a:defRPr>
            </a:lvl1pPr>
          </a:lstStyle>
          <a:p>
            <a:r>
              <a:t>STUDENT INFORMATION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02919" y="1945299"/>
            <a:ext cx="26517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A0AEC0"/>
                </a:solidFill>
              </a:defRPr>
            </a:lvl1pPr>
          </a:lstStyle>
          <a:p>
            <a:r>
              <a:t>FULL NAME</a:t>
            </a:r>
          </a:p>
        </p:txBody>
      </p:sp>
      <p:sp>
        <p:nvSpPr>
          <p:cNvPr id="27" name="Shape 7"/>
          <p:cNvSpPr/>
          <p:nvPr/>
        </p:nvSpPr>
        <p:spPr>
          <a:xfrm>
            <a:off x="457200" y="2194560"/>
            <a:ext cx="8046719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EEEEEF"/>
                </a:solidFill>
              </a:defRPr>
            </a:lvl1pPr>
          </a:lstStyle>
          <a:p>
            <a:r>
              <a:rPr lang="en-US" dirty="0"/>
              <a:t>Harshita Dwivedi</a:t>
            </a:r>
            <a:endParaRPr dirty="0"/>
          </a:p>
        </p:txBody>
      </p:sp>
      <p:sp>
        <p:nvSpPr>
          <p:cNvPr id="28" name="Text 8"/>
          <p:cNvSpPr txBox="1"/>
          <p:nvPr/>
        </p:nvSpPr>
        <p:spPr>
          <a:xfrm>
            <a:off x="502919" y="2813979"/>
            <a:ext cx="26517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A0AEC0"/>
                </a:solidFill>
              </a:defRPr>
            </a:lvl1pPr>
          </a:lstStyle>
          <a:p>
            <a:r>
              <a:t>CLASS / SECTION</a:t>
            </a:r>
          </a:p>
        </p:txBody>
      </p:sp>
      <p:sp>
        <p:nvSpPr>
          <p:cNvPr id="29" name="Shape 9"/>
          <p:cNvSpPr/>
          <p:nvPr/>
        </p:nvSpPr>
        <p:spPr>
          <a:xfrm>
            <a:off x="457200" y="3063239"/>
            <a:ext cx="8046719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Capegimi Sogeti Batch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502919" y="3682659"/>
            <a:ext cx="26517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A0AEC0"/>
                </a:solidFill>
              </a:defRPr>
            </a:lvl1pPr>
          </a:lstStyle>
          <a:p>
            <a:r>
              <a:t>ROLL NUMBER</a:t>
            </a:r>
          </a:p>
        </p:txBody>
      </p:sp>
      <p:sp>
        <p:nvSpPr>
          <p:cNvPr id="31" name="Shape 11"/>
          <p:cNvSpPr/>
          <p:nvPr/>
        </p:nvSpPr>
        <p:spPr>
          <a:xfrm>
            <a:off x="457200" y="3931920"/>
            <a:ext cx="8046719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641</a:t>
            </a:r>
            <a:r>
              <a:rPr lang="en-US" dirty="0"/>
              <a:t>2630</a:t>
            </a:r>
            <a:endParaRPr dirty="0"/>
          </a:p>
        </p:txBody>
      </p:sp>
      <p:sp>
        <p:nvSpPr>
          <p:cNvPr id="32" name="Shape 12"/>
          <p:cNvSpPr/>
          <p:nvPr/>
        </p:nvSpPr>
        <p:spPr>
          <a:xfrm>
            <a:off x="457200" y="4526279"/>
            <a:ext cx="3840480" cy="41148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ext 13"/>
          <p:cNvSpPr txBox="1"/>
          <p:nvPr/>
        </p:nvSpPr>
        <p:spPr>
          <a:xfrm>
            <a:off x="640079" y="4594151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r>
              <a:t>Date: 23/02/2026</a:t>
            </a:r>
          </a:p>
        </p:txBody>
      </p:sp>
      <p:sp>
        <p:nvSpPr>
          <p:cNvPr id="34" name="Shape 14"/>
          <p:cNvSpPr/>
          <p:nvPr/>
        </p:nvSpPr>
        <p:spPr>
          <a:xfrm>
            <a:off x="4754879" y="4526279"/>
            <a:ext cx="3749042" cy="41148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Text 15"/>
          <p:cNvSpPr txBox="1"/>
          <p:nvPr/>
        </p:nvSpPr>
        <p:spPr>
          <a:xfrm>
            <a:off x="4937760" y="4594151"/>
            <a:ext cx="3383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r>
              <a:t>Total Marks: 30  /  30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1645920"/>
            <a:ext cx="9144000" cy="19202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Shape 1"/>
          <p:cNvSpPr/>
          <p:nvPr/>
        </p:nvSpPr>
        <p:spPr>
          <a:xfrm>
            <a:off x="0" y="1645920"/>
            <a:ext cx="228600" cy="19202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2"/>
          <p:cNvSpPr txBox="1"/>
          <p:nvPr/>
        </p:nvSpPr>
        <p:spPr>
          <a:xfrm>
            <a:off x="502919" y="1791139"/>
            <a:ext cx="8138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 spc="500">
                <a:solidFill>
                  <a:srgbClr val="E94560"/>
                </a:solidFill>
              </a:defRPr>
            </a:lvl1pPr>
          </a:lstStyle>
          <a:p>
            <a:r>
              <a:t>SECTION 1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502919" y="2129179"/>
            <a:ext cx="8138161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FFFFFF"/>
                </a:solidFill>
              </a:defRPr>
            </a:lvl1pPr>
          </a:lstStyle>
          <a:p>
            <a:r>
              <a:t>NumPy Arrays &amp; Operations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502919" y="2796978"/>
            <a:ext cx="8138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i="1">
                <a:solidFill>
                  <a:srgbClr val="A0AEC0"/>
                </a:solidFill>
              </a:defRPr>
            </a:lvl1pPr>
          </a:lstStyle>
          <a:p>
            <a:r>
              <a:t>Questions 1–5  ·  Broadcasting, Indexing &amp; Numerical Computing</a:t>
            </a:r>
          </a:p>
        </p:txBody>
      </p:sp>
      <p:sp>
        <p:nvSpPr>
          <p:cNvPr id="42" name="Text 5"/>
          <p:cNvSpPr txBox="1"/>
          <p:nvPr/>
        </p:nvSpPr>
        <p:spPr>
          <a:xfrm>
            <a:off x="502919" y="4173527"/>
            <a:ext cx="4480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5A623"/>
                </a:solidFill>
              </a:defRPr>
            </a:lvl1pPr>
          </a:lstStyle>
          <a:p>
            <a:r>
              <a:t>5 Questions × 1 Mark = 5 Marks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48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ARRAY OPERATIONS</a:t>
            </a:r>
          </a:p>
        </p:txBody>
      </p:sp>
      <p:sp>
        <p:nvSpPr>
          <p:cNvPr id="50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51" name="Text 7"/>
          <p:cNvSpPr txBox="1"/>
          <p:nvPr/>
        </p:nvSpPr>
        <p:spPr>
          <a:xfrm>
            <a:off x="411479" y="1231462"/>
            <a:ext cx="8321041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What does the following NumPy operation return?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  np.array([1, 2, 3]) * 3</a:t>
            </a:r>
          </a:p>
        </p:txBody>
      </p:sp>
      <p:sp>
        <p:nvSpPr>
          <p:cNvPr id="52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55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[3, 6, 9]</a:t>
            </a:r>
          </a:p>
        </p:txBody>
      </p:sp>
      <p:sp>
        <p:nvSpPr>
          <p:cNvPr id="56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59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[1, 2, 3, 1, 2, 3, 1, 2, 3]</a:t>
            </a:r>
          </a:p>
        </p:txBody>
      </p:sp>
      <p:sp>
        <p:nvSpPr>
          <p:cNvPr id="60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63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[3, 3, 3]</a:t>
            </a:r>
          </a:p>
        </p:txBody>
      </p:sp>
      <p:sp>
        <p:nvSpPr>
          <p:cNvPr id="64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67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Error – cannot multiply array by scalar</a:t>
            </a:r>
          </a:p>
        </p:txBody>
      </p:sp>
      <p:sp>
        <p:nvSpPr>
          <p:cNvPr id="68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Answer: </a:t>
            </a:r>
            <a:r>
              <a:rPr u="sng"/>
              <a:t>A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75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BROADCASTING</a:t>
            </a:r>
          </a:p>
        </p:txBody>
      </p:sp>
      <p:sp>
        <p:nvSpPr>
          <p:cNvPr id="77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78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of the following NumPy array shapes are broadcast-compatible?</a:t>
            </a:r>
          </a:p>
        </p:txBody>
      </p:sp>
      <p:sp>
        <p:nvSpPr>
          <p:cNvPr id="79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82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(3, 4) and (5, 4)</a:t>
            </a:r>
          </a:p>
        </p:txBody>
      </p:sp>
      <p:sp>
        <p:nvSpPr>
          <p:cNvPr id="83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86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(3,) and (3, 3)</a:t>
            </a:r>
          </a:p>
        </p:txBody>
      </p:sp>
      <p:sp>
        <p:nvSpPr>
          <p:cNvPr id="87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90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(4, 1) and (1, 4)</a:t>
            </a:r>
          </a:p>
        </p:txBody>
      </p:sp>
      <p:sp>
        <p:nvSpPr>
          <p:cNvPr id="91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94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Both B and C</a:t>
            </a:r>
          </a:p>
        </p:txBody>
      </p:sp>
      <p:sp>
        <p:nvSpPr>
          <p:cNvPr id="95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____A___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02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INDEXING &amp; SLICING</a:t>
            </a:r>
          </a:p>
        </p:txBody>
      </p:sp>
      <p:sp>
        <p:nvSpPr>
          <p:cNvPr id="104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105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Given arr = np.array([[1,2,3],[4,5,6],[7,8,9]]), what does arr[1:, ::2] return?</a:t>
            </a:r>
          </a:p>
        </p:txBody>
      </p:sp>
      <p:sp>
        <p:nvSpPr>
          <p:cNvPr id="106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109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[[4, 6], [7, 9]]</a:t>
            </a:r>
          </a:p>
        </p:txBody>
      </p:sp>
      <p:sp>
        <p:nvSpPr>
          <p:cNvPr id="110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113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[[4, 5, 6], [7, 8, 9]]</a:t>
            </a:r>
          </a:p>
        </p:txBody>
      </p:sp>
      <p:sp>
        <p:nvSpPr>
          <p:cNvPr id="114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117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[[4, 6], [7, 9]]</a:t>
            </a:r>
          </a:p>
        </p:txBody>
      </p:sp>
      <p:sp>
        <p:nvSpPr>
          <p:cNvPr id="118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121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[[5, 6], [8, 9]]</a:t>
            </a:r>
          </a:p>
        </p:txBody>
      </p:sp>
      <p:sp>
        <p:nvSpPr>
          <p:cNvPr id="122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___C____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29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 5"/>
          <p:cNvSpPr txBox="1"/>
          <p:nvPr/>
        </p:nvSpPr>
        <p:spPr>
          <a:xfrm>
            <a:off x="1051559" y="138089"/>
            <a:ext cx="192024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NUMERICAL COMPUTATIONS</a:t>
            </a:r>
          </a:p>
        </p:txBody>
      </p:sp>
      <p:sp>
        <p:nvSpPr>
          <p:cNvPr id="131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132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NumPy function computes the dot product of two 1-D arrays?</a:t>
            </a:r>
          </a:p>
        </p:txBody>
      </p:sp>
      <p:sp>
        <p:nvSpPr>
          <p:cNvPr id="133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136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np.multiply()</a:t>
            </a:r>
          </a:p>
        </p:txBody>
      </p:sp>
      <p:sp>
        <p:nvSpPr>
          <p:cNvPr id="137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140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np.dot()</a:t>
            </a:r>
          </a:p>
        </p:txBody>
      </p:sp>
      <p:sp>
        <p:nvSpPr>
          <p:cNvPr id="141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144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np.cross()</a:t>
            </a:r>
          </a:p>
        </p:txBody>
      </p:sp>
      <p:sp>
        <p:nvSpPr>
          <p:cNvPr id="145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148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np.sum()</a:t>
            </a:r>
          </a:p>
        </p:txBody>
      </p:sp>
      <p:sp>
        <p:nvSpPr>
          <p:cNvPr id="149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___B____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156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ARRAY OPERATIONS</a:t>
            </a:r>
          </a:p>
        </p:txBody>
      </p:sp>
      <p:sp>
        <p:nvSpPr>
          <p:cNvPr id="158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159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What is the output of np.arange(2, 10, 3)?</a:t>
            </a:r>
          </a:p>
        </p:txBody>
      </p:sp>
      <p:sp>
        <p:nvSpPr>
          <p:cNvPr id="160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163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[2, 5, 8, 11]</a:t>
            </a:r>
          </a:p>
        </p:txBody>
      </p:sp>
      <p:sp>
        <p:nvSpPr>
          <p:cNvPr id="164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167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[2, 5, 8]</a:t>
            </a:r>
          </a:p>
        </p:txBody>
      </p:sp>
      <p:sp>
        <p:nvSpPr>
          <p:cNvPr id="168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0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171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[3, 6, 9]</a:t>
            </a:r>
          </a:p>
        </p:txBody>
      </p:sp>
      <p:sp>
        <p:nvSpPr>
          <p:cNvPr id="172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175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[2, 4, 6, 8]</a:t>
            </a:r>
          </a:p>
        </p:txBody>
      </p:sp>
      <p:sp>
        <p:nvSpPr>
          <p:cNvPr id="176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_______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1645920"/>
            <a:ext cx="9144000" cy="19202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Shape 1"/>
          <p:cNvSpPr/>
          <p:nvPr/>
        </p:nvSpPr>
        <p:spPr>
          <a:xfrm>
            <a:off x="0" y="1645920"/>
            <a:ext cx="228600" cy="1920241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Text 2"/>
          <p:cNvSpPr txBox="1"/>
          <p:nvPr/>
        </p:nvSpPr>
        <p:spPr>
          <a:xfrm>
            <a:off x="502919" y="1791139"/>
            <a:ext cx="8138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 spc="500">
                <a:solidFill>
                  <a:srgbClr val="F5A623"/>
                </a:solidFill>
              </a:defRPr>
            </a:lvl1pPr>
          </a:lstStyle>
          <a:p>
            <a:r>
              <a:t>SECTION 2</a:t>
            </a:r>
          </a:p>
        </p:txBody>
      </p:sp>
      <p:sp>
        <p:nvSpPr>
          <p:cNvPr id="182" name="Text 3"/>
          <p:cNvSpPr txBox="1"/>
          <p:nvPr/>
        </p:nvSpPr>
        <p:spPr>
          <a:xfrm>
            <a:off x="502919" y="2129179"/>
            <a:ext cx="8138161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FFFFFF"/>
                </a:solidFill>
              </a:defRPr>
            </a:lvl1pPr>
          </a:lstStyle>
          <a:p>
            <a:r>
              <a:t>Pandas — Series &amp; DataFrames</a:t>
            </a:r>
          </a:p>
        </p:txBody>
      </p:sp>
      <p:sp>
        <p:nvSpPr>
          <p:cNvPr id="183" name="Text 4"/>
          <p:cNvSpPr txBox="1"/>
          <p:nvPr/>
        </p:nvSpPr>
        <p:spPr>
          <a:xfrm>
            <a:off x="502919" y="2796978"/>
            <a:ext cx="8138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i="1">
                <a:solidFill>
                  <a:srgbClr val="A0AEC0"/>
                </a:solidFill>
              </a:defRPr>
            </a:lvl1pPr>
          </a:lstStyle>
          <a:p>
            <a:r>
              <a:t>Questions 6–12  ·  Data Loading, Filtering, Sorting &amp; Wrangling</a:t>
            </a:r>
          </a:p>
        </p:txBody>
      </p:sp>
      <p:sp>
        <p:nvSpPr>
          <p:cNvPr id="184" name="Text 5"/>
          <p:cNvSpPr txBox="1"/>
          <p:nvPr/>
        </p:nvSpPr>
        <p:spPr>
          <a:xfrm>
            <a:off x="502919" y="4173527"/>
            <a:ext cx="8138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5A623"/>
                </a:solidFill>
              </a:defRPr>
            </a:lvl1pPr>
          </a:lstStyle>
          <a:p>
            <a:r>
              <a:t>7 Questions × 1 Mark = 7 Marks  +  3 Short Answer × 2 Marks = 6 Marks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190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SERIES &amp; DATAFRAMES</a:t>
            </a:r>
          </a:p>
        </p:txBody>
      </p:sp>
      <p:sp>
        <p:nvSpPr>
          <p:cNvPr id="192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193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Pandas method is used to read a CSV file into a DataFrame?</a:t>
            </a:r>
          </a:p>
        </p:txBody>
      </p:sp>
      <p:sp>
        <p:nvSpPr>
          <p:cNvPr id="194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197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pd.read_table()</a:t>
            </a:r>
          </a:p>
        </p:txBody>
      </p:sp>
      <p:sp>
        <p:nvSpPr>
          <p:cNvPr id="198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201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pd.read_csv()</a:t>
            </a:r>
          </a:p>
        </p:txBody>
      </p:sp>
      <p:sp>
        <p:nvSpPr>
          <p:cNvPr id="202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205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pd.load_csv()</a:t>
            </a:r>
          </a:p>
        </p:txBody>
      </p:sp>
      <p:sp>
        <p:nvSpPr>
          <p:cNvPr id="206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209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pd.import_csv()</a:t>
            </a:r>
          </a:p>
        </p:txBody>
      </p:sp>
      <p:sp>
        <p:nvSpPr>
          <p:cNvPr id="210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__B__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217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DATA LOADING</a:t>
            </a:r>
          </a:p>
        </p:txBody>
      </p:sp>
      <p:sp>
        <p:nvSpPr>
          <p:cNvPr id="219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220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parameter in pd.read_excel() specifies which sheet to load?</a:t>
            </a:r>
          </a:p>
        </p:txBody>
      </p:sp>
      <p:sp>
        <p:nvSpPr>
          <p:cNvPr id="221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224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tab_name</a:t>
            </a:r>
          </a:p>
        </p:txBody>
      </p:sp>
      <p:sp>
        <p:nvSpPr>
          <p:cNvPr id="225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228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sheet_index</a:t>
            </a:r>
          </a:p>
        </p:txBody>
      </p:sp>
      <p:sp>
        <p:nvSpPr>
          <p:cNvPr id="229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0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232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sheet_name</a:t>
            </a:r>
          </a:p>
        </p:txBody>
      </p:sp>
      <p:sp>
        <p:nvSpPr>
          <p:cNvPr id="233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236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worksheet</a:t>
            </a:r>
          </a:p>
        </p:txBody>
      </p:sp>
      <p:sp>
        <p:nvSpPr>
          <p:cNvPr id="237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___C____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3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8</a:t>
            </a:r>
          </a:p>
        </p:txBody>
      </p:sp>
      <p:sp>
        <p:nvSpPr>
          <p:cNvPr id="244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5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FILTERING</a:t>
            </a:r>
          </a:p>
        </p:txBody>
      </p:sp>
      <p:sp>
        <p:nvSpPr>
          <p:cNvPr id="246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247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Given df with a column 'Age', which expression filters rows where Age &gt; 25?</a:t>
            </a:r>
          </a:p>
        </p:txBody>
      </p:sp>
      <p:sp>
        <p:nvSpPr>
          <p:cNvPr id="248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9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0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251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df[df.Age &gt; 25]</a:t>
            </a:r>
          </a:p>
        </p:txBody>
      </p:sp>
      <p:sp>
        <p:nvSpPr>
          <p:cNvPr id="252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3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255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df.filter(Age &gt; 25)</a:t>
            </a:r>
          </a:p>
        </p:txBody>
      </p:sp>
      <p:sp>
        <p:nvSpPr>
          <p:cNvPr id="256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7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259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df.where('Age &gt; 25')</a:t>
            </a:r>
          </a:p>
        </p:txBody>
      </p:sp>
      <p:sp>
        <p:nvSpPr>
          <p:cNvPr id="260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1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263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df.query['Age &gt; 25']</a:t>
            </a:r>
          </a:p>
        </p:txBody>
      </p:sp>
      <p:sp>
        <p:nvSpPr>
          <p:cNvPr id="264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___A____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8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9</a:t>
            </a:r>
          </a:p>
        </p:txBody>
      </p:sp>
      <p:sp>
        <p:nvSpPr>
          <p:cNvPr id="271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SORTING &amp; GROUPING</a:t>
            </a:r>
          </a:p>
        </p:txBody>
      </p:sp>
      <p:sp>
        <p:nvSpPr>
          <p:cNvPr id="273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274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method sorts a DataFrame by the 'Score' column in descending order?</a:t>
            </a:r>
          </a:p>
        </p:txBody>
      </p:sp>
      <p:sp>
        <p:nvSpPr>
          <p:cNvPr id="275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6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278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df.sort('Score', desc=True)</a:t>
            </a:r>
          </a:p>
        </p:txBody>
      </p:sp>
      <p:sp>
        <p:nvSpPr>
          <p:cNvPr id="279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0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1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282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df.order_by('Score', ascending=False)</a:t>
            </a:r>
          </a:p>
        </p:txBody>
      </p:sp>
      <p:sp>
        <p:nvSpPr>
          <p:cNvPr id="283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4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5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286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df.sort_values('Score', ascending=False)</a:t>
            </a:r>
          </a:p>
        </p:txBody>
      </p:sp>
      <p:sp>
        <p:nvSpPr>
          <p:cNvPr id="287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9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290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df.arrange('Score', reverse=True)</a:t>
            </a:r>
          </a:p>
        </p:txBody>
      </p:sp>
      <p:sp>
        <p:nvSpPr>
          <p:cNvPr id="291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2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___C____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6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10</a:t>
            </a:r>
          </a:p>
        </p:txBody>
      </p:sp>
      <p:sp>
        <p:nvSpPr>
          <p:cNvPr id="298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GROUPING</a:t>
            </a:r>
          </a:p>
        </p:txBody>
      </p:sp>
      <p:sp>
        <p:nvSpPr>
          <p:cNvPr id="300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301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What does df.groupby('Dept')['Salary'].mean() return?</a:t>
            </a:r>
          </a:p>
        </p:txBody>
      </p:sp>
      <p:sp>
        <p:nvSpPr>
          <p:cNvPr id="302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4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305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A single mean salary value</a:t>
            </a:r>
          </a:p>
        </p:txBody>
      </p:sp>
      <p:sp>
        <p:nvSpPr>
          <p:cNvPr id="306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309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Mean salary grouped by department</a:t>
            </a:r>
          </a:p>
        </p:txBody>
      </p:sp>
      <p:sp>
        <p:nvSpPr>
          <p:cNvPr id="310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1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2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313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Mean salary of the 'Dept' column</a:t>
            </a:r>
          </a:p>
        </p:txBody>
      </p:sp>
      <p:sp>
        <p:nvSpPr>
          <p:cNvPr id="314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5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317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Error – cannot group then mean</a:t>
            </a:r>
          </a:p>
        </p:txBody>
      </p:sp>
      <p:sp>
        <p:nvSpPr>
          <p:cNvPr id="318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9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___B____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2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4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11</a:t>
            </a:r>
          </a:p>
        </p:txBody>
      </p:sp>
      <p:sp>
        <p:nvSpPr>
          <p:cNvPr id="325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6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DATA WRANGLING</a:t>
            </a:r>
          </a:p>
        </p:txBody>
      </p:sp>
      <p:sp>
        <p:nvSpPr>
          <p:cNvPr id="327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328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Which method combines two DataFrames horizontally (column-wise)?</a:t>
            </a:r>
          </a:p>
        </p:txBody>
      </p:sp>
      <p:sp>
        <p:nvSpPr>
          <p:cNvPr id="329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0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1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332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pd.concat([df1, df2], axis=0)</a:t>
            </a:r>
          </a:p>
        </p:txBody>
      </p:sp>
      <p:sp>
        <p:nvSpPr>
          <p:cNvPr id="333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4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5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336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pd.concat([df1, df2], axis=1)</a:t>
            </a:r>
          </a:p>
        </p:txBody>
      </p:sp>
      <p:sp>
        <p:nvSpPr>
          <p:cNvPr id="337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8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9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340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df1.append(df2)</a:t>
            </a:r>
          </a:p>
        </p:txBody>
      </p:sp>
      <p:sp>
        <p:nvSpPr>
          <p:cNvPr id="341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2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344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pd.merge(df1, df2, how='outer')</a:t>
            </a:r>
          </a:p>
        </p:txBody>
      </p:sp>
      <p:sp>
        <p:nvSpPr>
          <p:cNvPr id="345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___B____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9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0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1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</a:defRPr>
            </a:lvl1pPr>
          </a:lstStyle>
          <a:p>
            <a:r>
              <a:t>12</a:t>
            </a:r>
          </a:p>
        </p:txBody>
      </p:sp>
      <p:sp>
        <p:nvSpPr>
          <p:cNvPr id="352" name="Shape 4"/>
          <p:cNvSpPr/>
          <p:nvPr/>
        </p:nvSpPr>
        <p:spPr>
          <a:xfrm>
            <a:off x="1005839" y="164592"/>
            <a:ext cx="2011680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3" name="Text 5"/>
          <p:cNvSpPr txBox="1"/>
          <p:nvPr/>
        </p:nvSpPr>
        <p:spPr>
          <a:xfrm>
            <a:off x="1051559" y="207939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DATA WRANGLING</a:t>
            </a:r>
          </a:p>
        </p:txBody>
      </p:sp>
      <p:sp>
        <p:nvSpPr>
          <p:cNvPr id="354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[1 Mark]</a:t>
            </a:r>
          </a:p>
        </p:txBody>
      </p:sp>
      <p:sp>
        <p:nvSpPr>
          <p:cNvPr id="355" name="Text 7"/>
          <p:cNvSpPr txBox="1"/>
          <p:nvPr/>
        </p:nvSpPr>
        <p:spPr>
          <a:xfrm>
            <a:off x="411479" y="1358462"/>
            <a:ext cx="83210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What does df.dropna() do to a DataFrame?</a:t>
            </a:r>
          </a:p>
        </p:txBody>
      </p:sp>
      <p:sp>
        <p:nvSpPr>
          <p:cNvPr id="356" name="Shape 8"/>
          <p:cNvSpPr/>
          <p:nvPr/>
        </p:nvSpPr>
        <p:spPr>
          <a:xfrm>
            <a:off x="365759" y="2148839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7" name="Shape 9"/>
          <p:cNvSpPr/>
          <p:nvPr/>
        </p:nvSpPr>
        <p:spPr>
          <a:xfrm>
            <a:off x="365759" y="2148839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8" name="Text 10"/>
          <p:cNvSpPr txBox="1"/>
          <p:nvPr/>
        </p:nvSpPr>
        <p:spPr>
          <a:xfrm>
            <a:off x="411479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A</a:t>
            </a:r>
          </a:p>
        </p:txBody>
      </p:sp>
      <p:sp>
        <p:nvSpPr>
          <p:cNvPr id="359" name="Text 11"/>
          <p:cNvSpPr txBox="1"/>
          <p:nvPr/>
        </p:nvSpPr>
        <p:spPr>
          <a:xfrm>
            <a:off x="1005839" y="243121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Drops all columns with NaN values</a:t>
            </a:r>
          </a:p>
        </p:txBody>
      </p:sp>
      <p:sp>
        <p:nvSpPr>
          <p:cNvPr id="360" name="Shape 12"/>
          <p:cNvSpPr/>
          <p:nvPr/>
        </p:nvSpPr>
        <p:spPr>
          <a:xfrm>
            <a:off x="4663440" y="2148839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1" name="Shape 13"/>
          <p:cNvSpPr/>
          <p:nvPr/>
        </p:nvSpPr>
        <p:spPr>
          <a:xfrm>
            <a:off x="4663440" y="2148839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2" name="Text 14"/>
          <p:cNvSpPr txBox="1"/>
          <p:nvPr/>
        </p:nvSpPr>
        <p:spPr>
          <a:xfrm>
            <a:off x="4709160" y="241992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B</a:t>
            </a:r>
          </a:p>
        </p:txBody>
      </p:sp>
      <p:sp>
        <p:nvSpPr>
          <p:cNvPr id="363" name="Text 15"/>
          <p:cNvSpPr txBox="1"/>
          <p:nvPr/>
        </p:nvSpPr>
        <p:spPr>
          <a:xfrm>
            <a:off x="5303520" y="2431218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Fills NaN values with 0</a:t>
            </a:r>
          </a:p>
        </p:txBody>
      </p:sp>
      <p:sp>
        <p:nvSpPr>
          <p:cNvPr id="364" name="Shape 16"/>
          <p:cNvSpPr/>
          <p:nvPr/>
        </p:nvSpPr>
        <p:spPr>
          <a:xfrm>
            <a:off x="365759" y="3246120"/>
            <a:ext cx="4023361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5" name="Shape 17"/>
          <p:cNvSpPr/>
          <p:nvPr/>
        </p:nvSpPr>
        <p:spPr>
          <a:xfrm>
            <a:off x="365759" y="3246120"/>
            <a:ext cx="502921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6" name="Text 18"/>
          <p:cNvSpPr txBox="1"/>
          <p:nvPr/>
        </p:nvSpPr>
        <p:spPr>
          <a:xfrm>
            <a:off x="411479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C</a:t>
            </a:r>
          </a:p>
        </p:txBody>
      </p:sp>
      <p:sp>
        <p:nvSpPr>
          <p:cNvPr id="367" name="Text 19"/>
          <p:cNvSpPr txBox="1"/>
          <p:nvPr/>
        </p:nvSpPr>
        <p:spPr>
          <a:xfrm>
            <a:off x="1005839" y="3528499"/>
            <a:ext cx="32004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Drops all rows containing NaN values</a:t>
            </a:r>
          </a:p>
        </p:txBody>
      </p:sp>
      <p:sp>
        <p:nvSpPr>
          <p:cNvPr id="368" name="Shape 20"/>
          <p:cNvSpPr/>
          <p:nvPr/>
        </p:nvSpPr>
        <p:spPr>
          <a:xfrm>
            <a:off x="4663440" y="3246120"/>
            <a:ext cx="4023360" cy="8229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9" name="Shape 21"/>
          <p:cNvSpPr/>
          <p:nvPr/>
        </p:nvSpPr>
        <p:spPr>
          <a:xfrm>
            <a:off x="4663440" y="3246120"/>
            <a:ext cx="502920" cy="82296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0" name="Text 22"/>
          <p:cNvSpPr txBox="1"/>
          <p:nvPr/>
        </p:nvSpPr>
        <p:spPr>
          <a:xfrm>
            <a:off x="4709160" y="3517200"/>
            <a:ext cx="411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D</a:t>
            </a:r>
          </a:p>
        </p:txBody>
      </p:sp>
      <p:sp>
        <p:nvSpPr>
          <p:cNvPr id="371" name="Text 23"/>
          <p:cNvSpPr txBox="1"/>
          <p:nvPr/>
        </p:nvSpPr>
        <p:spPr>
          <a:xfrm>
            <a:off x="5303520" y="3528499"/>
            <a:ext cx="3200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0F0F0"/>
                </a:solidFill>
              </a:defRPr>
            </a:lvl1pPr>
          </a:lstStyle>
          <a:p>
            <a:r>
              <a:t>Replaces NaN with the column mean</a:t>
            </a:r>
          </a:p>
        </p:txBody>
      </p:sp>
      <p:sp>
        <p:nvSpPr>
          <p:cNvPr id="372" name="Shape 24"/>
          <p:cNvSpPr/>
          <p:nvPr/>
        </p:nvSpPr>
        <p:spPr>
          <a:xfrm>
            <a:off x="365759" y="4251959"/>
            <a:ext cx="8412482" cy="594361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3" name="Text 25"/>
          <p:cNvSpPr txBox="1"/>
          <p:nvPr/>
        </p:nvSpPr>
        <p:spPr>
          <a:xfrm>
            <a:off x="594359" y="4415467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0AEC0"/>
                </a:solidFill>
              </a:defRPr>
            </a:lvl1pPr>
          </a:lstStyle>
          <a:p>
            <a:r>
              <a:t>Answer: ___C____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6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7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8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1A1A2E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379" name="Shape 4"/>
          <p:cNvSpPr/>
          <p:nvPr/>
        </p:nvSpPr>
        <p:spPr>
          <a:xfrm>
            <a:off x="1005839" y="164592"/>
            <a:ext cx="2286001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Text 5"/>
          <p:cNvSpPr txBox="1"/>
          <p:nvPr/>
        </p:nvSpPr>
        <p:spPr>
          <a:xfrm>
            <a:off x="1051559" y="207939"/>
            <a:ext cx="2194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PANDAS – GROUPBY</a:t>
            </a:r>
          </a:p>
        </p:txBody>
      </p:sp>
      <p:sp>
        <p:nvSpPr>
          <p:cNvPr id="381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[2 Marks]</a:t>
            </a:r>
          </a:p>
        </p:txBody>
      </p:sp>
      <p:sp>
        <p:nvSpPr>
          <p:cNvPr id="382" name="Text 7"/>
          <p:cNvSpPr txBox="1"/>
          <p:nvPr/>
        </p:nvSpPr>
        <p:spPr>
          <a:xfrm>
            <a:off x="411479" y="939459"/>
            <a:ext cx="8321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F5A623"/>
                </a:solidFill>
              </a:defRPr>
            </a:lvl1pPr>
          </a:lstStyle>
          <a:p>
            <a:r>
              <a:t>SHORT ANSWER</a:t>
            </a:r>
          </a:p>
        </p:txBody>
      </p:sp>
      <p:sp>
        <p:nvSpPr>
          <p:cNvPr id="383" name="Text 8"/>
          <p:cNvSpPr txBox="1"/>
          <p:nvPr/>
        </p:nvSpPr>
        <p:spPr>
          <a:xfrm>
            <a:off x="411479" y="1368623"/>
            <a:ext cx="832104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Explain the split-apply-combine strategy used by groupby() in Pandas. Provide a real-world example showing how groupby() with an aggregation function is used.</a:t>
            </a:r>
          </a:p>
        </p:txBody>
      </p:sp>
      <p:sp>
        <p:nvSpPr>
          <p:cNvPr id="384" name="Shape 9"/>
          <p:cNvSpPr/>
          <p:nvPr/>
        </p:nvSpPr>
        <p:spPr>
          <a:xfrm>
            <a:off x="365759" y="233172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5" name="Shape 10"/>
          <p:cNvSpPr/>
          <p:nvPr/>
        </p:nvSpPr>
        <p:spPr>
          <a:xfrm>
            <a:off x="365759" y="288036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6" name="Shape 11"/>
          <p:cNvSpPr/>
          <p:nvPr/>
        </p:nvSpPr>
        <p:spPr>
          <a:xfrm>
            <a:off x="365759" y="3429000"/>
            <a:ext cx="8412482" cy="0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Shape 12"/>
          <p:cNvSpPr/>
          <p:nvPr/>
        </p:nvSpPr>
        <p:spPr>
          <a:xfrm>
            <a:off x="365759" y="397764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8" name="Shape 13"/>
          <p:cNvSpPr/>
          <p:nvPr/>
        </p:nvSpPr>
        <p:spPr>
          <a:xfrm>
            <a:off x="365759" y="4526279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9" name="Split–Apply–Combine Strategy in groupby()…"/>
          <p:cNvSpPr txBox="1"/>
          <p:nvPr/>
        </p:nvSpPr>
        <p:spPr>
          <a:xfrm>
            <a:off x="502920" y="2326957"/>
            <a:ext cx="8503921" cy="267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Split–Apply–Combine Strategy in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groupby()</a:t>
            </a:r>
            <a:endParaRPr b="0"/>
          </a:p>
          <a:p>
            <a:pPr defTabSz="457200">
              <a:spcBef>
                <a:spcPts val="1200"/>
              </a:spcBef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300">
                <a:latin typeface="Courier"/>
                <a:ea typeface="Courier"/>
                <a:cs typeface="Courier"/>
                <a:sym typeface="Courier"/>
              </a:rPr>
              <a:t>groupby()</a:t>
            </a:r>
            <a:r>
              <a:t> works in three steps: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Split</a:t>
            </a:r>
            <a:r>
              <a:t> → Divide the DataFrame into groups based on a column.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Apply</a:t>
            </a:r>
            <a:r>
              <a:t> → Apply an aggregation function (like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mean()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sum()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count()</a:t>
            </a:r>
            <a:r>
              <a:t>) to each group.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Combine</a:t>
            </a:r>
            <a:r>
              <a:t> → Combine the results into a new Series or DataFrame.</a:t>
            </a:r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2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3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4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1A1A2E"/>
                </a:solidFill>
              </a:defRPr>
            </a:lvl1pPr>
          </a:lstStyle>
          <a:p>
            <a:r>
              <a:t>14</a:t>
            </a:r>
          </a:p>
        </p:txBody>
      </p:sp>
      <p:sp>
        <p:nvSpPr>
          <p:cNvPr id="395" name="Shape 4"/>
          <p:cNvSpPr/>
          <p:nvPr/>
        </p:nvSpPr>
        <p:spPr>
          <a:xfrm>
            <a:off x="1005839" y="164592"/>
            <a:ext cx="2286001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6" name="Text 5"/>
          <p:cNvSpPr txBox="1"/>
          <p:nvPr/>
        </p:nvSpPr>
        <p:spPr>
          <a:xfrm>
            <a:off x="1051559" y="207939"/>
            <a:ext cx="2194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NUMPY – BROADCASTING</a:t>
            </a:r>
          </a:p>
        </p:txBody>
      </p:sp>
      <p:sp>
        <p:nvSpPr>
          <p:cNvPr id="397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[2 Marks]</a:t>
            </a:r>
          </a:p>
        </p:txBody>
      </p:sp>
      <p:sp>
        <p:nvSpPr>
          <p:cNvPr id="398" name="Text 7"/>
          <p:cNvSpPr txBox="1"/>
          <p:nvPr/>
        </p:nvSpPr>
        <p:spPr>
          <a:xfrm>
            <a:off x="411479" y="939459"/>
            <a:ext cx="8321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F5A623"/>
                </a:solidFill>
              </a:defRPr>
            </a:lvl1pPr>
          </a:lstStyle>
          <a:p>
            <a:r>
              <a:t>SHORT ANSWER</a:t>
            </a:r>
          </a:p>
        </p:txBody>
      </p:sp>
      <p:sp>
        <p:nvSpPr>
          <p:cNvPr id="399" name="Text 8"/>
          <p:cNvSpPr txBox="1"/>
          <p:nvPr/>
        </p:nvSpPr>
        <p:spPr>
          <a:xfrm>
            <a:off x="411479" y="1368623"/>
            <a:ext cx="832104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What is broadcasting in NumPy? State the broadcasting rules and give an example showing how arrays of shapes (3, 1) and (1, 4) would interact.</a:t>
            </a:r>
          </a:p>
        </p:txBody>
      </p:sp>
      <p:sp>
        <p:nvSpPr>
          <p:cNvPr id="400" name="Shape 9"/>
          <p:cNvSpPr/>
          <p:nvPr/>
        </p:nvSpPr>
        <p:spPr>
          <a:xfrm>
            <a:off x="365759" y="233172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1" name="Shape 10"/>
          <p:cNvSpPr/>
          <p:nvPr/>
        </p:nvSpPr>
        <p:spPr>
          <a:xfrm>
            <a:off x="365759" y="288036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2" name="Shape 11"/>
          <p:cNvSpPr/>
          <p:nvPr/>
        </p:nvSpPr>
        <p:spPr>
          <a:xfrm>
            <a:off x="365759" y="3429000"/>
            <a:ext cx="8412482" cy="0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3" name="Shape 12"/>
          <p:cNvSpPr/>
          <p:nvPr/>
        </p:nvSpPr>
        <p:spPr>
          <a:xfrm>
            <a:off x="365759" y="397764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4" name="Shape 13"/>
          <p:cNvSpPr/>
          <p:nvPr/>
        </p:nvSpPr>
        <p:spPr>
          <a:xfrm>
            <a:off x="365759" y="4526279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5" name="Broadcasting in NumPy allows arrays of different shapes to perform element-wise operations by automatically expanding the smaller array.…"/>
          <p:cNvSpPr txBox="1"/>
          <p:nvPr/>
        </p:nvSpPr>
        <p:spPr>
          <a:xfrm>
            <a:off x="411479" y="2326957"/>
            <a:ext cx="8503921" cy="385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Broadcasting in NumPy</a:t>
            </a:r>
            <a:r>
              <a:t> allows arrays of different shapes to perform element-wise operations by automatically expanding the smaller array.</a:t>
            </a:r>
          </a:p>
          <a:p>
            <a:pPr defTabSz="457200">
              <a:spcBef>
                <a:spcPts val="1400"/>
              </a:spcBef>
              <a:defRPr sz="14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Rules: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Compare dimensions from </a:t>
            </a:r>
            <a:r>
              <a:rPr b="1"/>
              <a:t>right to left</a:t>
            </a:r>
            <a:r>
              <a:t>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Dimensions are compatible if they are: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Equal, or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One of them is 1.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Otherwise, it raises an error.</a:t>
            </a:r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8" name="Shape 1"/>
          <p:cNvSpPr/>
          <p:nvPr/>
        </p:nvSpPr>
        <p:spPr>
          <a:xfrm>
            <a:off x="0" y="822960"/>
            <a:ext cx="9144000" cy="54865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9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0" name="Text 3"/>
          <p:cNvSpPr txBox="1"/>
          <p:nvPr/>
        </p:nvSpPr>
        <p:spPr>
          <a:xfrm>
            <a:off x="320040" y="195932"/>
            <a:ext cx="50292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>
                <a:solidFill>
                  <a:srgbClr val="1A1A2E"/>
                </a:solidFill>
              </a:defRPr>
            </a:lvl1pPr>
          </a:lstStyle>
          <a:p>
            <a:r>
              <a:t>15</a:t>
            </a:r>
          </a:p>
        </p:txBody>
      </p:sp>
      <p:sp>
        <p:nvSpPr>
          <p:cNvPr id="411" name="Shape 4"/>
          <p:cNvSpPr/>
          <p:nvPr/>
        </p:nvSpPr>
        <p:spPr>
          <a:xfrm>
            <a:off x="1005839" y="164592"/>
            <a:ext cx="2286001" cy="292609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2" name="Text 5"/>
          <p:cNvSpPr txBox="1"/>
          <p:nvPr/>
        </p:nvSpPr>
        <p:spPr>
          <a:xfrm>
            <a:off x="1051559" y="207939"/>
            <a:ext cx="2194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 spc="200">
                <a:solidFill>
                  <a:srgbClr val="F5A623"/>
                </a:solidFill>
              </a:defRPr>
            </a:lvl1pPr>
          </a:lstStyle>
          <a:p>
            <a:r>
              <a:t>DATA WRANGLING</a:t>
            </a:r>
          </a:p>
        </p:txBody>
      </p:sp>
      <p:sp>
        <p:nvSpPr>
          <p:cNvPr id="413" name="Text 6"/>
          <p:cNvSpPr txBox="1"/>
          <p:nvPr/>
        </p:nvSpPr>
        <p:spPr>
          <a:xfrm>
            <a:off x="7818119" y="205784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i="1">
                <a:solidFill>
                  <a:srgbClr val="A0AEC0"/>
                </a:solidFill>
              </a:defRPr>
            </a:lvl1pPr>
          </a:lstStyle>
          <a:p>
            <a:r>
              <a:t>[2 Marks]</a:t>
            </a:r>
          </a:p>
        </p:txBody>
      </p:sp>
      <p:sp>
        <p:nvSpPr>
          <p:cNvPr id="414" name="Text 7"/>
          <p:cNvSpPr txBox="1"/>
          <p:nvPr/>
        </p:nvSpPr>
        <p:spPr>
          <a:xfrm>
            <a:off x="411479" y="939459"/>
            <a:ext cx="8321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 spc="300">
                <a:solidFill>
                  <a:srgbClr val="F5A623"/>
                </a:solidFill>
              </a:defRPr>
            </a:lvl1pPr>
          </a:lstStyle>
          <a:p>
            <a:r>
              <a:t>SHORT ANSWER</a:t>
            </a:r>
          </a:p>
        </p:txBody>
      </p:sp>
      <p:sp>
        <p:nvSpPr>
          <p:cNvPr id="415" name="Text 8"/>
          <p:cNvSpPr txBox="1"/>
          <p:nvPr/>
        </p:nvSpPr>
        <p:spPr>
          <a:xfrm>
            <a:off x="411479" y="1368623"/>
            <a:ext cx="832104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</a:defRPr>
            </a:lvl1pPr>
          </a:lstStyle>
          <a:p>
            <a:r>
              <a:t>Describe any TWO common data-wrangling tasks in Pandas. For each task, name the method used and write a one-line code example.</a:t>
            </a:r>
          </a:p>
        </p:txBody>
      </p:sp>
      <p:sp>
        <p:nvSpPr>
          <p:cNvPr id="416" name="Shape 9"/>
          <p:cNvSpPr/>
          <p:nvPr/>
        </p:nvSpPr>
        <p:spPr>
          <a:xfrm>
            <a:off x="365759" y="233172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7" name="Shape 10"/>
          <p:cNvSpPr/>
          <p:nvPr/>
        </p:nvSpPr>
        <p:spPr>
          <a:xfrm>
            <a:off x="365759" y="288036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8" name="Shape 11"/>
          <p:cNvSpPr/>
          <p:nvPr/>
        </p:nvSpPr>
        <p:spPr>
          <a:xfrm>
            <a:off x="365759" y="3429000"/>
            <a:ext cx="8412482" cy="0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Shape 12"/>
          <p:cNvSpPr/>
          <p:nvPr/>
        </p:nvSpPr>
        <p:spPr>
          <a:xfrm>
            <a:off x="365759" y="3977640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Shape 13"/>
          <p:cNvSpPr/>
          <p:nvPr/>
        </p:nvSpPr>
        <p:spPr>
          <a:xfrm>
            <a:off x="365759" y="4526279"/>
            <a:ext cx="8412482" cy="1"/>
          </a:xfrm>
          <a:prstGeom prst="line">
            <a:avLst/>
          </a:prstGeom>
          <a:ln>
            <a:solidFill>
              <a:srgbClr val="0F346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" name="1️⃣ Filtering rows…"/>
          <p:cNvSpPr txBox="1"/>
          <p:nvPr/>
        </p:nvSpPr>
        <p:spPr>
          <a:xfrm>
            <a:off x="365759" y="2331720"/>
            <a:ext cx="3910234" cy="6035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1️⃣ Filtering rows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Method:</a:t>
            </a:r>
            <a:r>
              <a:t> Boolean indexing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Example:</a:t>
            </a: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df[df['Age'] &gt; 25]</a:t>
            </a:r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spcBef>
                <a:spcPts val="1200"/>
              </a:spcBef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(Select rows where Age is greater than 25)</a:t>
            </a:r>
          </a:p>
          <a:p>
            <a:pPr defTabSz="457200"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422" name="2️⃣ Handling missing values…"/>
          <p:cNvSpPr txBox="1"/>
          <p:nvPr/>
        </p:nvSpPr>
        <p:spPr>
          <a:xfrm>
            <a:off x="4572000" y="2331720"/>
            <a:ext cx="3910233" cy="5858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2️⃣ Handling missing values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Method:</a:t>
            </a:r>
            <a:r>
              <a:rPr b="0"/>
              <a:t> </a:t>
            </a:r>
            <a:r>
              <a:rPr sz="1300" b="0">
                <a:latin typeface="Courier"/>
                <a:ea typeface="Courier"/>
                <a:cs typeface="Courier"/>
                <a:sym typeface="Courier"/>
              </a:rPr>
              <a:t>dropna()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Example:</a:t>
            </a: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/>
          </a:p>
          <a:p>
            <a:pPr defTabSz="457200">
              <a:defRPr sz="13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df.dropna()</a:t>
            </a:r>
          </a:p>
          <a:p>
            <a:pPr defTabSz="457200">
              <a:spcBef>
                <a:spcPts val="1200"/>
              </a:spcBef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(Removes rows containing NaN values)</a:t>
            </a:r>
          </a:p>
          <a:p>
            <a:pPr defTabSz="457200"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defRPr sz="13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5" name="Shape 1"/>
          <p:cNvSpPr/>
          <p:nvPr/>
        </p:nvSpPr>
        <p:spPr>
          <a:xfrm>
            <a:off x="0" y="2194560"/>
            <a:ext cx="9144000" cy="73153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6" name="Text 2"/>
          <p:cNvSpPr txBox="1"/>
          <p:nvPr/>
        </p:nvSpPr>
        <p:spPr>
          <a:xfrm>
            <a:off x="502919" y="678884"/>
            <a:ext cx="81381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400" b="1" spc="800">
                <a:solidFill>
                  <a:srgbClr val="FFFFFF"/>
                </a:solidFill>
              </a:defRPr>
            </a:lvl1pPr>
          </a:lstStyle>
          <a:p>
            <a:r>
              <a:t>END OF QUIZ</a:t>
            </a:r>
          </a:p>
        </p:txBody>
      </p:sp>
      <p:sp>
        <p:nvSpPr>
          <p:cNvPr id="427" name="Text 3"/>
          <p:cNvSpPr txBox="1"/>
          <p:nvPr/>
        </p:nvSpPr>
        <p:spPr>
          <a:xfrm>
            <a:off x="502919" y="147276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i="1">
                <a:solidFill>
                  <a:srgbClr val="A0AEC0"/>
                </a:solidFill>
              </a:defRPr>
            </a:lvl1pPr>
          </a:lstStyle>
          <a:p>
            <a:r>
              <a:t>Please review all answers before submitting.</a:t>
            </a:r>
          </a:p>
        </p:txBody>
      </p:sp>
      <p:graphicFrame>
        <p:nvGraphicFramePr>
          <p:cNvPr id="428" name="Table 0"/>
          <p:cNvGraphicFramePr/>
          <p:nvPr/>
        </p:nvGraphicFramePr>
        <p:xfrm>
          <a:off x="1371600" y="2468879"/>
          <a:ext cx="6400800" cy="228600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Questions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Marks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Section 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Q1–Q5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5 Marks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Section 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Pandas MCQ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Q6–Q12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7 Marks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Section 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Short Answer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Q13–Q15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</a:rPr>
                        <a:t>6 Marks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5A623"/>
                          </a:solidFill>
                        </a:rPr>
                        <a:t>TOTAL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 b="1">
                          <a:solidFill>
                            <a:srgbClr val="F5A623"/>
                          </a:solidFill>
                        </a:rPr>
                        <a:t>30 Marks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F3460"/>
                      </a:solidFill>
                    </a:lnL>
                    <a:lnR w="12700">
                      <a:solidFill>
                        <a:srgbClr val="0F3460"/>
                      </a:solidFill>
                    </a:lnR>
                    <a:lnT w="12700">
                      <a:solidFill>
                        <a:srgbClr val="0F3460"/>
                      </a:solidFill>
                    </a:lnT>
                    <a:lnB w="12700">
                      <a:solidFill>
                        <a:srgbClr val="0F3460"/>
                      </a:solidFill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On-screen Show (16:9)</PresentationFormat>
  <Paragraphs>267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Harshita Dwivedi</cp:lastModifiedBy>
  <cp:revision>1</cp:revision>
  <dcterms:modified xsi:type="dcterms:W3CDTF">2026-02-23T10:05:23Z</dcterms:modified>
</cp:coreProperties>
</file>